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7EBA-725E-6732-15B5-AA439804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1A2C2-6C3E-B66C-951A-55268EB33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7B832-3DF0-B925-0226-0E680198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2510F-8168-3868-CCB0-415A93A0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EED73-62E9-7950-24F9-D59F4295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8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59D4-D642-9B04-AD4D-418ACBE8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14D19-51B4-2913-7544-169D0F91E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EAD01-7179-127E-FDD9-8EAAFA19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68F76-00CC-A2F9-874D-1E9E30DC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FF243-43A1-0436-C973-50E31A1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5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DC59-BA80-7384-68D2-0F7B219E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467A8-E570-F3A2-1313-22CA71021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C01D-8BBC-8244-7747-C7945A69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7E4A8-F2F9-0848-6DC3-E065F0AF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99466-F08F-021B-098A-FD17066C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9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6466-1EC8-39E0-6E85-0B0613F3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8887-BC31-10E5-3EF7-5F51B429F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F61DE-BD78-9773-0390-716D1BC44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95D67-3C88-295A-8D22-163A2C4E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8583-2A38-EB63-FBF2-4682298B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4E8B7-1038-8333-8995-C44BCEF8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99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A5A4-4F29-3F48-0B6D-CE3EAEB3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C43BC-A2B4-90E1-4C5B-69F873A6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5ADF1-DEEB-CEE1-5A4C-C4FD270D5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260A4-A534-82E2-BF37-2A9E0F9C5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6A24C-0C49-F2BA-AF44-417CD8375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0A47F-031E-7D19-2ED2-EB5077F9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665AC-A667-1CFC-1EEA-6DAD9557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FCF0A-94E2-4475-3A0B-22DFE88E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5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5552-1F59-0452-905D-2027950E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9CC8E-21EE-1BFC-1313-FFF7C917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23616-6901-AA60-77E6-BF6F8BC6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CD213-4B1F-8E8C-CE53-4D8EAA01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955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DD7B3-11E1-4741-2A2A-E923441B0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CF9B9-FAA6-C1E1-D71A-FE81CD0D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4B38-2EE6-0E10-ACF3-09F5EF1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08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7EE5-C8E1-13FD-5598-67116A18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85D65-C295-5C96-B350-805B23025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E4A73-AD38-7934-48C6-EC5D30254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97A62-2ECF-37DF-1A0B-8DEABC61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8868D-7F9F-2D3F-40D7-FEA8A203F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C478E-9307-241B-DB8D-BA403841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3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F54B-F492-5EB0-B51B-A161042B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F7EB9-7457-4792-ED30-F8D655DA2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6B524-1B45-1841-BE03-388A47D0D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F90B-2EAC-92C5-003C-44ABD3D5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0942B-03CB-AEC0-CC4F-F47C2DDF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44D7E-4877-03E7-C91E-C53B715F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81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E1D3-E40A-E815-5AE7-C4E27388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F272-5B2C-7DCA-A010-0B66E6EDB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F1768-4044-0196-E499-5FB195F6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7779F-B653-8C76-C036-BFD87A77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E5FC4-5992-AA93-4BAF-F63E0035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3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975A1-5081-8853-CA42-7D6002C6F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44754-501C-ED06-3ACB-ED7F3493A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64190-F060-A33F-8F8B-AC42B50C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D85F7-355F-04BC-F3D4-B6576C5B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FDB6E-79D5-96E6-D4F6-8FBDF3BE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1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20162F-DF68-D9B7-F083-0C350918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9BCDB-D7B3-D133-E08F-07FE8B475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6B910-58BC-8D23-750F-632D4D390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23555-98E8-47EF-A8E1-1607CBB0DDF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42707-AFBC-577B-4599-65A0327B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02A3-CB1D-32FA-E0CD-BD4293F53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8DEBE-9278-4929-AEC2-98D7B8134B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03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61EB-6CDA-9887-DDC3-9A0BFCD82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512" y="1122363"/>
            <a:ext cx="10415016" cy="2387600"/>
          </a:xfrm>
        </p:spPr>
        <p:txBody>
          <a:bodyPr/>
          <a:lstStyle/>
          <a:p>
            <a:r>
              <a:rPr lang="en-IN" dirty="0"/>
              <a:t>Converting Casual Riders to Annual Members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CB334-02F3-5019-1804-5B3E33BC4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008" y="4069080"/>
            <a:ext cx="2444496" cy="1965960"/>
          </a:xfrm>
        </p:spPr>
        <p:txBody>
          <a:bodyPr/>
          <a:lstStyle/>
          <a:p>
            <a:r>
              <a:rPr lang="en-IN" dirty="0" err="1"/>
              <a:t>Cyclistic</a:t>
            </a:r>
            <a:endParaRPr lang="en-IN" dirty="0"/>
          </a:p>
          <a:p>
            <a:r>
              <a:rPr lang="en-IN" dirty="0"/>
              <a:t>August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97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54E0-EFBE-8A15-9AE3-15D9CAB8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76" y="154813"/>
            <a:ext cx="10515600" cy="1325563"/>
          </a:xfrm>
        </p:spPr>
        <p:txBody>
          <a:bodyPr/>
          <a:lstStyle/>
          <a:p>
            <a:r>
              <a:rPr lang="en-US" dirty="0"/>
              <a:t>Problem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70AB-E192-234F-5D12-CDD506A9D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76" y="1792224"/>
            <a:ext cx="11088624" cy="4384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How do annual members and casual riders use </a:t>
            </a:r>
            <a:r>
              <a:rPr lang="en-IN" sz="3200" dirty="0" err="1"/>
              <a:t>Cyclistic</a:t>
            </a:r>
            <a:r>
              <a:rPr lang="en-IN" sz="3200" dirty="0"/>
              <a:t> bikes differently, and how can these insights be leveraged to design a targeted marketing strategy aimed at converting casual riders into annual members?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9257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3645-AEB1-4A10-5398-472527FE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46253"/>
            <a:ext cx="10515600" cy="1325563"/>
          </a:xfrm>
        </p:spPr>
        <p:txBody>
          <a:bodyPr/>
          <a:lstStyle/>
          <a:p>
            <a:r>
              <a:rPr lang="en-US" dirty="0"/>
              <a:t>Solution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E0B9C-9350-7F50-6E67-523BB7B8DC50}"/>
              </a:ext>
            </a:extLst>
          </p:cNvPr>
          <p:cNvSpPr txBox="1"/>
          <p:nvPr/>
        </p:nvSpPr>
        <p:spPr>
          <a:xfrm>
            <a:off x="472440" y="2386584"/>
            <a:ext cx="10759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 Offer discounted pricing or lower the price for annual memberships to increase the conversion rate of casual riders into members. </a:t>
            </a:r>
          </a:p>
        </p:txBody>
      </p:sp>
    </p:spTree>
    <p:extLst>
      <p:ext uri="{BB962C8B-B14F-4D97-AF65-F5344CB8AC3E}">
        <p14:creationId xmlns:p14="http://schemas.microsoft.com/office/powerpoint/2010/main" val="415497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B881-E656-7D05-BE4A-E41CE043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97664C-D726-6D88-6E86-1FA81836F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340" y="647828"/>
            <a:ext cx="5052060" cy="5845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098D68-C74E-AC66-0716-21EC5A74E36A}"/>
              </a:ext>
            </a:extLst>
          </p:cNvPr>
          <p:cNvSpPr txBox="1"/>
          <p:nvPr/>
        </p:nvSpPr>
        <p:spPr>
          <a:xfrm>
            <a:off x="393192" y="2828835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REASON:</a:t>
            </a:r>
          </a:p>
          <a:p>
            <a:endParaRPr lang="en-US" b="1" dirty="0"/>
          </a:p>
          <a:p>
            <a:r>
              <a:rPr lang="en-IN" dirty="0"/>
              <a:t>Casual riders take significantly longer individual trips on average (~28 minutes) compared to annual members (~13 minutes).</a:t>
            </a:r>
          </a:p>
        </p:txBody>
      </p:sp>
    </p:spTree>
    <p:extLst>
      <p:ext uri="{BB962C8B-B14F-4D97-AF65-F5344CB8AC3E}">
        <p14:creationId xmlns:p14="http://schemas.microsoft.com/office/powerpoint/2010/main" val="1088084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5183-F547-CA9E-8AAA-406DCAC8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29B9C-0C00-CF6C-B555-A6E1DFDA4F89}"/>
              </a:ext>
            </a:extLst>
          </p:cNvPr>
          <p:cNvSpPr txBox="1"/>
          <p:nvPr/>
        </p:nvSpPr>
        <p:spPr>
          <a:xfrm>
            <a:off x="256624" y="2274838"/>
            <a:ext cx="3391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REASON:</a:t>
            </a:r>
          </a:p>
          <a:p>
            <a:endParaRPr lang="en-US" b="1" dirty="0"/>
          </a:p>
          <a:p>
            <a:r>
              <a:rPr lang="en-IN" dirty="0"/>
              <a:t>Casual rider activity </a:t>
            </a:r>
          </a:p>
          <a:p>
            <a:r>
              <a:rPr lang="en-IN" dirty="0"/>
              <a:t>spikes dramatically on </a:t>
            </a:r>
          </a:p>
          <a:p>
            <a:r>
              <a:rPr lang="en-IN" dirty="0"/>
              <a:t>weekends (days 6 and 7), </a:t>
            </a:r>
          </a:p>
          <a:p>
            <a:r>
              <a:rPr lang="en-IN" dirty="0"/>
              <a:t>while annual members</a:t>
            </a:r>
          </a:p>
          <a:p>
            <a:r>
              <a:rPr lang="en-IN" dirty="0"/>
              <a:t> maintain steady, consistent</a:t>
            </a:r>
          </a:p>
          <a:p>
            <a:r>
              <a:rPr lang="en-IN" dirty="0"/>
              <a:t> usage every day of the week</a:t>
            </a:r>
          </a:p>
          <a:p>
            <a:r>
              <a:rPr lang="en-IN" dirty="0"/>
              <a:t> for commuting.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212B2E-BB25-9D67-9E95-7B3C118A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0"/>
            <a:ext cx="8286920" cy="670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2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186F-D17D-43CE-756A-90AB789C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Summary 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4D4AC-8A08-2CA9-BE1A-35DA78D6C379}"/>
              </a:ext>
            </a:extLst>
          </p:cNvPr>
          <p:cNvSpPr txBox="1"/>
          <p:nvPr/>
        </p:nvSpPr>
        <p:spPr>
          <a:xfrm>
            <a:off x="838200" y="2926080"/>
            <a:ext cx="9933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Proper pricing incentives and discounts can bridge the gap and turn high-engagement casual weekend riders into loyal annual members.</a:t>
            </a:r>
          </a:p>
        </p:txBody>
      </p:sp>
    </p:spTree>
    <p:extLst>
      <p:ext uri="{BB962C8B-B14F-4D97-AF65-F5344CB8AC3E}">
        <p14:creationId xmlns:p14="http://schemas.microsoft.com/office/powerpoint/2010/main" val="54871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064C-29D0-21D3-5D00-DCCB82CF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 Recommendations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1B488-343F-0716-0E03-A59AEC2C5F2C}"/>
              </a:ext>
            </a:extLst>
          </p:cNvPr>
          <p:cNvSpPr txBox="1"/>
          <p:nvPr/>
        </p:nvSpPr>
        <p:spPr>
          <a:xfrm>
            <a:off x="512064" y="2397948"/>
            <a:ext cx="10296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Conduct expanded customer surveys to capture deeper qualitative insights and more precise user preferences for future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240554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0671-3D52-2EB3-26D2-F3B13AF1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496" y="1087501"/>
            <a:ext cx="10515600" cy="4408043"/>
          </a:xfrm>
        </p:spPr>
        <p:txBody>
          <a:bodyPr>
            <a:normAutofit/>
          </a:bodyPr>
          <a:lstStyle/>
          <a:p>
            <a:r>
              <a:rPr lang="en-US" sz="6000" dirty="0"/>
              <a:t>                       Thank you 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51808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171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Converting Casual Riders to Annual Members</vt:lpstr>
      <vt:lpstr>Problem </vt:lpstr>
      <vt:lpstr>Solution </vt:lpstr>
      <vt:lpstr>Why </vt:lpstr>
      <vt:lpstr>HOW</vt:lpstr>
      <vt:lpstr>Summary </vt:lpstr>
      <vt:lpstr>Further Recommendations </vt:lpstr>
      <vt:lpstr>                       Thank you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SIDHANT NEGI</dc:creator>
  <cp:lastModifiedBy>SIDHANT NEGI</cp:lastModifiedBy>
  <cp:revision>5</cp:revision>
  <dcterms:created xsi:type="dcterms:W3CDTF">2026-08-09T06:09:26Z</dcterms:created>
  <dcterms:modified xsi:type="dcterms:W3CDTF">2026-08-09T06:29:24Z</dcterms:modified>
</cp:coreProperties>
</file>